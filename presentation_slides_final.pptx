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86" r:id="rId7"/>
    <p:sldId id="261" r:id="rId8"/>
    <p:sldId id="262" r:id="rId9"/>
    <p:sldId id="263" r:id="rId10"/>
    <p:sldId id="289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90" r:id="rId25"/>
    <p:sldId id="277" r:id="rId26"/>
    <p:sldId id="278" r:id="rId27"/>
    <p:sldId id="279" r:id="rId28"/>
    <p:sldId id="287" r:id="rId29"/>
    <p:sldId id="288" r:id="rId30"/>
    <p:sldId id="280" r:id="rId31"/>
    <p:sldId id="281" r:id="rId32"/>
    <p:sldId id="282" r:id="rId33"/>
    <p:sldId id="283" r:id="rId34"/>
    <p:sldId id="284" r:id="rId35"/>
    <p:sldId id="285" r:id="rId3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63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5685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23350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389120"/>
            <a:ext cx="3840480" cy="3840480"/>
          </a:xfrm>
          <a:prstGeom prst="ellipse">
            <a:avLst/>
          </a:prstGeom>
          <a:solidFill>
            <a:srgbClr val="0F294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PROJECT · NATURAL LANGUAGE PROCESSING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dirty="0">
                <a:solidFill>
                  <a:schemeClr val="bg1"/>
                </a:solidFill>
              </a:rPr>
              <a:t>Bengali Hate Speech Detection: A Multi-Track Benchmark with Fusion, </a:t>
            </a:r>
            <a:r>
              <a:rPr lang="en-US" sz="3200" dirty="0" err="1">
                <a:solidFill>
                  <a:schemeClr val="bg1"/>
                </a:solidFill>
              </a:rPr>
              <a:t>Explainability</a:t>
            </a:r>
            <a:r>
              <a:rPr lang="en-US" sz="3200" dirty="0">
                <a:solidFill>
                  <a:schemeClr val="bg1"/>
                </a:solidFill>
              </a:rPr>
              <a:t> and Uncertainty Quantification</a:t>
            </a:r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3429000"/>
            <a:ext cx="5120640" cy="2331720"/>
          </a:xfrm>
          <a:prstGeom prst="roundRect">
            <a:avLst>
              <a:gd name="adj" fmla="val 3922"/>
            </a:avLst>
          </a:prstGeom>
          <a:solidFill>
            <a:srgbClr val="12335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6118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3977640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50" dirty="0">
                <a:solidFill>
                  <a:srgbClr val="F4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Dipta Sarker  ·  ID: </a:t>
            </a:r>
            <a:r>
              <a:rPr lang="en-US" sz="1450" dirty="0" smtClean="0">
                <a:solidFill>
                  <a:srgbClr val="F4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12221125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50" dirty="0">
                <a:solidFill>
                  <a:srgbClr val="F4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Rahmatullah Mia  ·  ID: 12221100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50" dirty="0">
                <a:solidFill>
                  <a:srgbClr val="F4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Mahdi Hasan  ·  ID: </a:t>
            </a:r>
            <a:r>
              <a:rPr lang="en-US" sz="1450" dirty="0" smtClean="0">
                <a:solidFill>
                  <a:srgbClr val="F4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12221067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50" dirty="0">
                <a:solidFill>
                  <a:srgbClr val="F4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</a:t>
            </a:r>
            <a:r>
              <a:rPr lang="en-US" sz="1450" dirty="0" err="1" smtClean="0">
                <a:solidFill>
                  <a:srgbClr val="F4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Shawan</a:t>
            </a:r>
            <a:r>
              <a:rPr lang="en-US" sz="1450" dirty="0" smtClean="0">
                <a:solidFill>
                  <a:srgbClr val="F4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>
                <a:solidFill>
                  <a:srgbClr val="F4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Biswas  ·  ID: 12221096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051560" y="53492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3429000"/>
            <a:ext cx="5166360" cy="2331720"/>
          </a:xfrm>
          <a:prstGeom prst="roundRect">
            <a:avLst>
              <a:gd name="adj" fmla="val 3922"/>
            </a:avLst>
          </a:prstGeom>
          <a:solidFill>
            <a:srgbClr val="12335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361188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0" y="397764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 smtClean="0">
                <a:solidFill>
                  <a:srgbClr val="F4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Md. </a:t>
            </a:r>
            <a:r>
              <a:rPr lang="en-US" sz="2000" b="1" dirty="0" err="1" smtClean="0">
                <a:solidFill>
                  <a:srgbClr val="F4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Zahid</a:t>
            </a:r>
            <a:r>
              <a:rPr lang="en-US" sz="2000" b="1" dirty="0" smtClean="0">
                <a:solidFill>
                  <a:srgbClr val="F4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000" b="1" dirty="0">
                <a:solidFill>
                  <a:srgbClr val="F4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0800" y="443484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 smtClean="0">
                <a:solidFill>
                  <a:srgbClr val="9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0" y="480060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Global Village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Global Village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00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57276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57200" y="2221992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219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1945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457200" y="2843784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8437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81635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Contributions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457200" y="3465576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4655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3438144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Works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457200" y="4087368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087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4059936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Resource Creation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457200" y="470916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709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468172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457200" y="5330952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53309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53035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Data Pipeline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6492240" y="160020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1600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40880" y="157276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Zoo &amp; Fusion Strategies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6492240" y="222199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22219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040880" y="21945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Dynamics &amp; Embedding Space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6492240" y="2843784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28437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040880" y="281635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Evaluation</a:t>
            </a:r>
            <a:endParaRPr lang="en-US" sz="1550" dirty="0"/>
          </a:p>
        </p:txBody>
      </p:sp>
      <p:sp>
        <p:nvSpPr>
          <p:cNvPr id="34" name="Shape 32"/>
          <p:cNvSpPr/>
          <p:nvPr/>
        </p:nvSpPr>
        <p:spPr>
          <a:xfrm>
            <a:off x="6492240" y="346557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5" name="Text 33"/>
          <p:cNvSpPr/>
          <p:nvPr/>
        </p:nvSpPr>
        <p:spPr>
          <a:xfrm>
            <a:off x="6492240" y="34655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040880" y="3438144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Significance, Data Audit &amp; Generalization</a:t>
            </a:r>
            <a:endParaRPr lang="en-US" sz="1550" dirty="0"/>
          </a:p>
        </p:txBody>
      </p:sp>
      <p:sp>
        <p:nvSpPr>
          <p:cNvPr id="37" name="Shape 35"/>
          <p:cNvSpPr/>
          <p:nvPr/>
        </p:nvSpPr>
        <p:spPr>
          <a:xfrm>
            <a:off x="6492240" y="408736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8" name="Text 36"/>
          <p:cNvSpPr/>
          <p:nvPr/>
        </p:nvSpPr>
        <p:spPr>
          <a:xfrm>
            <a:off x="6492240" y="4087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040880" y="4059936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(XAI)</a:t>
            </a:r>
            <a:endParaRPr lang="en-US" sz="1550" dirty="0"/>
          </a:p>
        </p:txBody>
      </p:sp>
      <p:sp>
        <p:nvSpPr>
          <p:cNvPr id="40" name="Shape 38"/>
          <p:cNvSpPr/>
          <p:nvPr/>
        </p:nvSpPr>
        <p:spPr>
          <a:xfrm>
            <a:off x="6492240" y="470916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1" name="Text 39"/>
          <p:cNvSpPr/>
          <p:nvPr/>
        </p:nvSpPr>
        <p:spPr>
          <a:xfrm>
            <a:off x="6492240" y="4709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040880" y="468172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&amp; Calibration</a:t>
            </a:r>
            <a:endParaRPr lang="en-US" sz="1550" dirty="0"/>
          </a:p>
        </p:txBody>
      </p:sp>
      <p:sp>
        <p:nvSpPr>
          <p:cNvPr id="43" name="Shape 41"/>
          <p:cNvSpPr/>
          <p:nvPr/>
        </p:nvSpPr>
        <p:spPr>
          <a:xfrm>
            <a:off x="6492240" y="533095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4" name="Text 42"/>
          <p:cNvSpPr/>
          <p:nvPr/>
        </p:nvSpPr>
        <p:spPr>
          <a:xfrm>
            <a:off x="6492240" y="53309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040880" y="53035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550" dirty="0"/>
          </a:p>
        </p:txBody>
      </p:sp>
      <p:sp>
        <p:nvSpPr>
          <p:cNvPr id="46" name="Text 44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 Hate Speech Detection — Multi-Model NLP Benchmark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6400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●"/>
            </a:pPr>
            <a:r>
              <a:rPr lang="en-US" sz="15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 is the 6th-most spoken language worldwide, with rapidly growing social-media use across Bangladesh and West Bengal.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●"/>
            </a:pPr>
            <a:r>
              <a:rPr lang="en-US" sz="15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sections, groups, and pages increasingly carry abusive, threatening, and demeaning language directed at individuals and communities.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●"/>
            </a:pPr>
            <a:r>
              <a:rPr lang="en-US" sz="15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moderation cannot scale to the volume of Bangla user-generated content — automated detection is essential.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●"/>
            </a:pPr>
            <a:r>
              <a:rPr lang="en-US" sz="15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and benchmarks an end-to-end NLP pipeline that flags bullying content in Bangla text with accuracy, transparency, and calibrated confidence.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360920" y="169164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3F7FA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16232E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60920" y="1801368"/>
            <a:ext cx="2148840" cy="8503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29.8K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452360" y="265176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 posts curated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601200" y="169164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3F7FA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16232E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0" y="1801368"/>
            <a:ext cx="2148840" cy="8503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33.4%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692640" y="265176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bullying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360920" y="329184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3F7FA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16232E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60920" y="3401568"/>
            <a:ext cx="2148840" cy="8503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452360" y="425196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benchmarked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601200" y="3291840"/>
            <a:ext cx="2148840" cy="1417320"/>
          </a:xfrm>
          <a:prstGeom prst="roundRect">
            <a:avLst>
              <a:gd name="adj" fmla="val 5161"/>
            </a:avLst>
          </a:prstGeom>
          <a:solidFill>
            <a:srgbClr val="F3F7FA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16232E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601200" y="3401568"/>
            <a:ext cx="2148840" cy="8503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0.895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692640" y="425196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F1-macro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360920" y="48920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figures from this study — detailed in later sections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 Hate Speech Detection — Multi-Model NLP Benchmark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758952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●"/>
            </a:pPr>
            <a:r>
              <a:rPr lang="en-US" sz="15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 is a low-resource language for NLP: informal spelling, code-mixing with English, and heavy use of transliteration make text noisy.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●"/>
            </a:pPr>
            <a:r>
              <a:rPr lang="en-US" sz="15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bullying/hate datasets are class-imbalanced — harmful posts are the minority class, biasing naive classifiers toward “safe” predictions.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●"/>
            </a:pPr>
            <a:r>
              <a:rPr lang="en-US" sz="15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prior systems report a single accuracy number and stop — they do not explain which words drove a decision, nor how confident the model really is.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●"/>
            </a:pPr>
            <a:r>
              <a:rPr lang="en-US" sz="15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 moderation tool needs all three: strong minority-class recall, human-readable explanations, and well-calibrated uncertainty for safe abstention.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229600" y="1737360"/>
            <a:ext cx="3520440" cy="4160520"/>
          </a:xfrm>
          <a:prstGeom prst="roundRect">
            <a:avLst>
              <a:gd name="adj" fmla="val 2597"/>
            </a:avLst>
          </a:prstGeom>
          <a:solidFill>
            <a:srgbClr val="F3F7FA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16232E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58200" y="1920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458200" y="233172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2E86AB"/>
          </a:solidFill>
          <a:ln/>
        </p:spPr>
      </p:sp>
      <p:sp>
        <p:nvSpPr>
          <p:cNvPr id="8" name="Text 6"/>
          <p:cNvSpPr/>
          <p:nvPr/>
        </p:nvSpPr>
        <p:spPr>
          <a:xfrm>
            <a:off x="8458200" y="23317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Non-bullying — 66.6%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458200" y="2834640"/>
            <a:ext cx="3063240" cy="365760"/>
          </a:xfrm>
          <a:prstGeom prst="roundRect">
            <a:avLst>
              <a:gd name="adj" fmla="val 50000"/>
            </a:avLst>
          </a:prstGeom>
          <a:solidFill>
            <a:srgbClr val="E2622A"/>
          </a:solidFill>
          <a:ln/>
        </p:spPr>
      </p:sp>
      <p:sp>
        <p:nvSpPr>
          <p:cNvPr id="10" name="Text 8"/>
          <p:cNvSpPr/>
          <p:nvPr/>
        </p:nvSpPr>
        <p:spPr>
          <a:xfrm>
            <a:off x="8458200" y="28346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Bullying — 33.4%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58200" y="3383280"/>
            <a:ext cx="3063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3 posts in the corpus is labelled bullying — a realistic, imbalanced moderation setting.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 Hate Speech Detection — Multi-Model NLP Benchmark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2036003" cy="4114800"/>
          </a:xfrm>
          <a:prstGeom prst="roundRect">
            <a:avLst>
              <a:gd name="adj" fmla="val 4042"/>
            </a:avLst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16232E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19170" y="2057400"/>
            <a:ext cx="512064" cy="51206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6" name="Text 4"/>
          <p:cNvSpPr/>
          <p:nvPr/>
        </p:nvSpPr>
        <p:spPr>
          <a:xfrm>
            <a:off x="1219170" y="20574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1792" y="2788920"/>
            <a:ext cx="170681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clean corpus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1670243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Curate, clean, and stratify-split a ~30K-post Bangla bullying corpus.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67523" y="1737360"/>
            <a:ext cx="2036003" cy="4114800"/>
          </a:xfrm>
          <a:prstGeom prst="roundRect">
            <a:avLst>
              <a:gd name="adj" fmla="val 4042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16232E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29493" y="2057400"/>
            <a:ext cx="512064" cy="51206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/>
          <p:nvPr/>
        </p:nvSpPr>
        <p:spPr>
          <a:xfrm>
            <a:off x="3529493" y="20574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32115" y="2788920"/>
            <a:ext cx="170681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broadly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950403" y="3429000"/>
            <a:ext cx="1670243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evaluate 17 models across classical ML, static embeddings, deep nets, and transformers.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77846" y="1737360"/>
            <a:ext cx="2036003" cy="4114800"/>
          </a:xfrm>
          <a:prstGeom prst="roundRect">
            <a:avLst>
              <a:gd name="adj" fmla="val 4042"/>
            </a:avLst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16232E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39816" y="2057400"/>
            <a:ext cx="512064" cy="51206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6" name="Text 14"/>
          <p:cNvSpPr/>
          <p:nvPr/>
        </p:nvSpPr>
        <p:spPr>
          <a:xfrm>
            <a:off x="5839816" y="20574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42438" y="2788920"/>
            <a:ext cx="170681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&amp; ensemble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260726" y="3429000"/>
            <a:ext cx="1670243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model families via early/late fusion and soft-vote / stacking ensembles for peak F1.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88169" y="1737360"/>
            <a:ext cx="2036003" cy="4114800"/>
          </a:xfrm>
          <a:prstGeom prst="roundRect">
            <a:avLst>
              <a:gd name="adj" fmla="val 4042"/>
            </a:avLst>
          </a:prstGeom>
          <a:solidFill>
            <a:srgbClr val="1C7293"/>
          </a:solidFill>
          <a:ln/>
          <a:effectLst>
            <a:outerShdw blurRad="76200" dist="25400" dir="5400000" algn="bl" rotWithShape="0">
              <a:srgbClr val="16232E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50139" y="2057400"/>
            <a:ext cx="512064" cy="51206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1" name="Text 19"/>
          <p:cNvSpPr/>
          <p:nvPr/>
        </p:nvSpPr>
        <p:spPr>
          <a:xfrm>
            <a:off x="8150139" y="20574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552761" y="2788920"/>
            <a:ext cx="170681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decisions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571049" y="3429000"/>
            <a:ext cx="1670243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the words and phrases driving predictions with SHAP, LIME, and attention maps.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698492" y="1737360"/>
            <a:ext cx="2036003" cy="4114800"/>
          </a:xfrm>
          <a:prstGeom prst="roundRect">
            <a:avLst>
              <a:gd name="adj" fmla="val 4042"/>
            </a:avLst>
          </a:prstGeom>
          <a:solidFill>
            <a:srgbClr val="065A82"/>
          </a:solidFill>
          <a:ln/>
          <a:effectLst>
            <a:outerShdw blurRad="76200" dist="25400" dir="5400000" algn="bl" rotWithShape="0">
              <a:srgbClr val="16232E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460462" y="2057400"/>
            <a:ext cx="512064" cy="51206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6" name="Text 24"/>
          <p:cNvSpPr/>
          <p:nvPr/>
        </p:nvSpPr>
        <p:spPr>
          <a:xfrm>
            <a:off x="10460462" y="20574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863084" y="2788920"/>
            <a:ext cx="170681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uncertainty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9881372" y="3429000"/>
            <a:ext cx="1670243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9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confidence and enable selective prediction (abstain on uncertain posts).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 Hate Speech Detection — Multi-Model NLP Benchmark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Contributions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1277295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●"/>
            </a:pPr>
            <a:r>
              <a:rPr lang="en-US" sz="15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controlled 17-model benchmark — validated with bootstrap 95% confidence intervals and pairwise McNemar tests across five model families on one common protocol.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●"/>
            </a:pPr>
            <a:r>
              <a:rPr lang="en-US" sz="15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&amp; ensembling that wins — a stacked ensemble and validation-weighted late fusion outperform every individual model, edging out the best transformer.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●"/>
            </a:pPr>
            <a:r>
              <a:rPr lang="en-US" sz="15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+ uncertainty as first-class criteria — SHAP, LIME, and attention comparisons alongside MC-Dropout uncertainty and temperature-scaling calibration.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●"/>
            </a:pPr>
            <a:r>
              <a:rPr lang="en-US" sz="15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Leakage-audited &amp; cross-corpus replicated — a data-audit/ablation phase rules out leakage; the full protocol re-runs end-to-end on a second, independent corpus (BD-SHS).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 Hate Speech Detection — Multi-Model NLP Benchmark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Related Works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1277295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●"/>
            </a:pPr>
            <a:r>
              <a:rPr lang="en-US" sz="15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baselines — TF-IDF / Bag-of-Words features with Logistic Regression, SVM, or Naive Bayes dominate early Bangla text-classification work; fast, but limited by sparse, static features.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●"/>
            </a:pPr>
            <a:r>
              <a:rPr lang="en-US" sz="15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embeddings (Word2Vec, FastText, GloVe) improve generalization slightly but still miss context and word-sense disambiguation.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●"/>
            </a:pPr>
            <a:r>
              <a:rPr lang="en-US" sz="15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encoders pretrained on Bangla corpora (BanglaBERT, Bangla-Electra) achieve strong accuracy but are typically reported as single opaque numbers.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600"/>
              </a:spcAft>
              <a:buSzPct val="100000"/>
              <a:buChar char="●"/>
            </a:pPr>
            <a:r>
              <a:rPr lang="en-US" sz="15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this project targets: very few Bangla hate-speech studies combine multi-family fusion/ensembling with rigorous statistical testing, explainability, and calibrated uncertainty in one pipeline.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 Hate Speech Detection — Multi-Model NLP Benchmark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RESOURCE CREATION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64922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500"/>
              </a:spcAft>
              <a:buSzPct val="100000"/>
              <a:buChar char="●"/>
            </a:pPr>
            <a:r>
              <a:rPr lang="en-US" sz="15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real-world Bangla social-media comments spanning news, politics, entertainment, and personal posts.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500"/>
              </a:spcAft>
              <a:buSzPct val="100000"/>
              <a:buChar char="●"/>
            </a:pPr>
            <a:r>
              <a:rPr lang="en-US" sz="15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label per post: </a:t>
            </a:r>
            <a:r>
              <a:rPr lang="en-US" sz="1550" dirty="0" smtClean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Hate speech </a:t>
            </a:r>
            <a:r>
              <a:rPr lang="en-US" sz="15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vs. </a:t>
            </a:r>
            <a:r>
              <a:rPr lang="en-US" sz="1550" dirty="0" smtClean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Non-hate speech </a:t>
            </a:r>
            <a:r>
              <a:rPr lang="en-US" sz="15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(0), assigned via annotated ground truth.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500"/>
              </a:spcAft>
              <a:buSzPct val="100000"/>
              <a:buChar char="●"/>
            </a:pPr>
            <a:r>
              <a:rPr lang="en-US" sz="15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train / validation / test split preserves the natural 66.6% / 33.4% class ratio in every partition.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500"/>
              </a:spcAft>
              <a:buSzPct val="100000"/>
              <a:buChar char="●"/>
            </a:pPr>
            <a:r>
              <a:rPr lang="en-US" sz="15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metadata retained (post length, token counts) to support downstream exploratory analysis.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589520" y="1737360"/>
            <a:ext cx="4160520" cy="4160520"/>
          </a:xfrm>
          <a:prstGeom prst="roundRect">
            <a:avLst>
              <a:gd name="adj" fmla="val 2198"/>
            </a:avLst>
          </a:prstGeom>
          <a:solidFill>
            <a:srgbClr val="F3F7FA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16232E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818120" y="19202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at a glance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18120" y="237744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posts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921240" y="23774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29,836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818120" y="276148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 smtClean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Non-hate speech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921240" y="276148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19,878 (66.6%)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818120" y="314553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 smtClean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Hate speech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921240" y="314553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9,958 (33.4%)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818120" y="352958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words / post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921240" y="352958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14.69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818120" y="391363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words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921240" y="391363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818120" y="429768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size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921240" y="429768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62,419 tokens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 Hate Speech Detection — Multi-Model NLP Benchmark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RESOURCE CREATION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Statistics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3545738" cy="1737360"/>
          </a:xfrm>
          <a:prstGeom prst="roundRect">
            <a:avLst>
              <a:gd name="adj" fmla="val 4211"/>
            </a:avLst>
          </a:prstGeom>
          <a:solidFill>
            <a:srgbClr val="F3F7FA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16232E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847088"/>
            <a:ext cx="3545738" cy="11704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29,836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336285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labelled posts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22978" y="1737360"/>
            <a:ext cx="3545738" cy="1737360"/>
          </a:xfrm>
          <a:prstGeom prst="roundRect">
            <a:avLst>
              <a:gd name="adj" fmla="val 4211"/>
            </a:avLst>
          </a:prstGeom>
          <a:solidFill>
            <a:srgbClr val="F3F7FA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16232E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22978" y="1847088"/>
            <a:ext cx="3545738" cy="11704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62,419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414418" y="3017520"/>
            <a:ext cx="336285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vocabulary tokens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88757" y="1737360"/>
            <a:ext cx="3545738" cy="1737360"/>
          </a:xfrm>
          <a:prstGeom prst="roundRect">
            <a:avLst>
              <a:gd name="adj" fmla="val 4211"/>
            </a:avLst>
          </a:prstGeom>
          <a:solidFill>
            <a:srgbClr val="F3F7FA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16232E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88757" y="1847088"/>
            <a:ext cx="3545738" cy="11704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14.69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280197" y="3017520"/>
            <a:ext cx="336285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words per post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3545738" cy="1737360"/>
          </a:xfrm>
          <a:prstGeom prst="roundRect">
            <a:avLst>
              <a:gd name="adj" fmla="val 4211"/>
            </a:avLst>
          </a:prstGeom>
          <a:solidFill>
            <a:srgbClr val="F3F7FA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16232E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858768"/>
            <a:ext cx="3545738" cy="11704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537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48640" y="5029200"/>
            <a:ext cx="336285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post (words)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22978" y="3749040"/>
            <a:ext cx="3545738" cy="1737360"/>
          </a:xfrm>
          <a:prstGeom prst="roundRect">
            <a:avLst>
              <a:gd name="adj" fmla="val 4211"/>
            </a:avLst>
          </a:prstGeom>
          <a:solidFill>
            <a:srgbClr val="F3F7FA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16232E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22978" y="3858768"/>
            <a:ext cx="3545738" cy="11704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414418" y="5029200"/>
            <a:ext cx="336285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words per post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88757" y="3749040"/>
            <a:ext cx="3545738" cy="1737360"/>
          </a:xfrm>
          <a:prstGeom prst="roundRect">
            <a:avLst>
              <a:gd name="adj" fmla="val 4211"/>
            </a:avLst>
          </a:prstGeom>
          <a:solidFill>
            <a:srgbClr val="F3F7FA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16232E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188757" y="3858768"/>
            <a:ext cx="3545738" cy="11704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0.501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280197" y="5029200"/>
            <a:ext cx="336285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ratio (min/max)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 Hate Speech Detection — Multi-Model NLP Benchmark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12745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541"/>
                </a:solidFill>
                <a:latin typeface="Calibri"/>
              </a:rPr>
              <a:t>SECTION 5 · RESOURCE CREATION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455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Cambria"/>
              </a:rPr>
              <a:t>Data Cleaning &amp; Final Modeling Split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91640"/>
            <a:ext cx="2880360" cy="1828800"/>
          </a:xfrm>
          <a:prstGeom prst="roundRect">
            <a:avLst/>
          </a:prstGeom>
          <a:solidFill>
            <a:srgbClr val="F3F7FA"/>
          </a:solidFill>
          <a:ln w="12700">
            <a:solidFill>
              <a:srgbClr val="E1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2" y="1847088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65A82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267712"/>
            <a:ext cx="2514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6322E"/>
                </a:solidFill>
                <a:latin typeface="Calibri"/>
              </a:rPr>
              <a:t>Actual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724912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65A82"/>
                </a:solidFill>
                <a:latin typeface="Calibri"/>
              </a:rPr>
              <a:t>30,000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474720" y="2606040"/>
            <a:ext cx="548640" cy="0"/>
          </a:xfrm>
          <a:prstGeom prst="line">
            <a:avLst/>
          </a:prstGeom>
          <a:ln w="25400">
            <a:solidFill>
              <a:srgbClr val="5B6B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069080" y="1691640"/>
            <a:ext cx="2880360" cy="1828800"/>
          </a:xfrm>
          <a:prstGeom prst="roundRect">
            <a:avLst/>
          </a:prstGeom>
          <a:solidFill>
            <a:srgbClr val="F3F7FA"/>
          </a:solidFill>
          <a:ln w="12700">
            <a:solidFill>
              <a:srgbClr val="E1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33672" y="1847088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2A541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33672" y="2267712"/>
            <a:ext cx="2514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6322E"/>
                </a:solidFill>
                <a:latin typeface="Calibri"/>
              </a:rPr>
              <a:t>NA-drop + deduplication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33672" y="2724912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2A541"/>
                </a:solidFill>
                <a:latin typeface="Calibri"/>
              </a:rPr>
              <a:t>29,836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949440" y="2606040"/>
            <a:ext cx="548639" cy="0"/>
          </a:xfrm>
          <a:prstGeom prst="line">
            <a:avLst/>
          </a:prstGeom>
          <a:ln w="25400">
            <a:solidFill>
              <a:srgbClr val="5B6B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543800" y="1691640"/>
            <a:ext cx="2880360" cy="1828800"/>
          </a:xfrm>
          <a:prstGeom prst="roundRect">
            <a:avLst/>
          </a:prstGeom>
          <a:solidFill>
            <a:srgbClr val="F3F7FA"/>
          </a:solidFill>
          <a:ln w="12700">
            <a:solidFill>
              <a:srgbClr val="E1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08392" y="1847088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D7D5A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2267712"/>
            <a:ext cx="2514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6322E"/>
                </a:solidFill>
                <a:latin typeface="Calibri"/>
              </a:rPr>
              <a:t>After clean_text()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08392" y="2724912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D7D5A"/>
                </a:solidFill>
                <a:latin typeface="Calibri"/>
              </a:rPr>
              <a:t>29,829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794760"/>
            <a:ext cx="6492240" cy="2057400"/>
          </a:xfrm>
          <a:prstGeom prst="roundRect">
            <a:avLst/>
          </a:prstGeom>
          <a:solidFill>
            <a:srgbClr val="E9F1F6"/>
          </a:solidFill>
          <a:ln w="12700">
            <a:solidFill>
              <a:srgbClr val="E1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005072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65A82"/>
                </a:solidFill>
                <a:latin typeface="Calibri"/>
              </a:rPr>
              <a:t>Actual modeling split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4645152"/>
            <a:ext cx="4128258" cy="38404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5102352"/>
            <a:ext cx="412825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6322E"/>
                </a:solidFill>
                <a:latin typeface="Calibri"/>
              </a:rPr>
              <a:t>Train
20,879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96938" y="4645152"/>
            <a:ext cx="884810" cy="384048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96938" y="5102352"/>
            <a:ext cx="88481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6322E"/>
                </a:solidFill>
                <a:latin typeface="Calibri"/>
              </a:rPr>
              <a:t>Validation
4,475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81749" y="4645152"/>
            <a:ext cx="884810" cy="384048"/>
          </a:xfrm>
          <a:prstGeom prst="rect">
            <a:avLst/>
          </a:prstGeom>
          <a:solidFill>
            <a:srgbClr val="2D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881749" y="5102352"/>
            <a:ext cx="88481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6322E"/>
                </a:solidFill>
                <a:latin typeface="Calibri"/>
              </a:rPr>
              <a:t>Test
4,475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3794760"/>
            <a:ext cx="4389120" cy="2057400"/>
          </a:xfrm>
          <a:prstGeom prst="roundRect">
            <a:avLst/>
          </a:prstGeom>
          <a:solidFill>
            <a:srgbClr val="F3F7FA"/>
          </a:solidFill>
          <a:ln w="12700">
            <a:solidFill>
              <a:srgbClr val="E1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35240" y="400507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2A541"/>
                </a:solidFill>
                <a:latin typeface="Calibri"/>
              </a:rPr>
              <a:t>Cleaning note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4462272"/>
            <a:ext cx="374903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6322E"/>
                </a:solidFill>
                <a:latin typeface="Calibri"/>
              </a:rPr>
              <a:t>The working note records 7 posts removed after clean_text() (29,836 → 29,829).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537667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B6B79"/>
                </a:solidFill>
                <a:latin typeface="Calibri"/>
              </a:rPr>
              <a:t>Split total = 29,829 posts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9"/>
                </a:solidFill>
                <a:latin typeface="Calibri"/>
              </a:rPr>
              <a:t>Bengali Hate Speech Detection — Multi-Model NLP Benchmark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60152" y="647395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B79"/>
                </a:solidFill>
                <a:latin typeface="Calibri"/>
              </a:rPr>
              <a:t>34 / 35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EDA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Distribution &amp; Post Length</a:t>
            </a:r>
            <a:endParaRPr lang="en-US" sz="3000" dirty="0"/>
          </a:p>
        </p:txBody>
      </p:sp>
      <p:pic>
        <p:nvPicPr>
          <p:cNvPr id="4" name="Image 0" descr="/mnt/user-data/uploads/fig01_class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4499"/>
            <a:ext cx="5349240" cy="3986242"/>
          </a:xfrm>
          <a:prstGeom prst="rect">
            <a:avLst/>
          </a:prstGeom>
          <a:effectLst>
            <a:outerShdw blurRad="88900" dist="38100" dir="5400000" algn="bl" rotWithShape="0">
              <a:srgbClr val="16232E">
                <a:alpha val="28000"/>
              </a:srgbClr>
            </a:outerShdw>
          </a:effectLst>
        </p:spPr>
      </p:pic>
      <p:pic>
        <p:nvPicPr>
          <p:cNvPr id="5" name="Image 1" descr="/mnt/user-data/uploads/fig01_post_length_by_cla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822988"/>
            <a:ext cx="5349240" cy="3989264"/>
          </a:xfrm>
          <a:prstGeom prst="rect">
            <a:avLst/>
          </a:prstGeom>
          <a:effectLst>
            <a:outerShdw blurRad="88900" dist="38100" dir="5400000" algn="bl" rotWithShape="0">
              <a:srgbClr val="16232E">
                <a:alpha val="28000"/>
              </a:srgbClr>
            </a:outerShdw>
          </a:effectLst>
        </p:spPr>
      </p:pic>
      <p:sp>
        <p:nvSpPr>
          <p:cNvPr id="6" name="Text 2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2:1 class imbalance (non-bullying vs. bullying). Right: both classes share a similar short-post-heavy length distribution.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 Hate Speech Detection — Multi-Model NLP Benchmark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EDA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Lexical Patterns by Class</a:t>
            </a:r>
            <a:endParaRPr lang="en-US" sz="3000" dirty="0"/>
          </a:p>
        </p:txBody>
      </p:sp>
      <p:pic>
        <p:nvPicPr>
          <p:cNvPr id="4" name="Image 0" descr="/mnt/user-data/uploads/fig02_top_unigrams_non_bully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67" y="1737360"/>
            <a:ext cx="4902906" cy="4160520"/>
          </a:xfrm>
          <a:prstGeom prst="rect">
            <a:avLst/>
          </a:prstGeom>
          <a:effectLst>
            <a:outerShdw blurRad="88900" dist="38100" dir="5400000" algn="bl" rotWithShape="0">
              <a:srgbClr val="16232E">
                <a:alpha val="28000"/>
              </a:srgbClr>
            </a:outerShdw>
          </a:effectLst>
        </p:spPr>
      </p:pic>
      <p:pic>
        <p:nvPicPr>
          <p:cNvPr id="5" name="Image 1" descr="/mnt/user-data/uploads/fig02_top_unigrams_bully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3671" y="1737360"/>
            <a:ext cx="4789179" cy="4160520"/>
          </a:xfrm>
          <a:prstGeom prst="rect">
            <a:avLst/>
          </a:prstGeom>
          <a:effectLst>
            <a:outerShdw blurRad="88900" dist="38100" dir="5400000" algn="bl" rotWithShape="0">
              <a:srgbClr val="16232E">
                <a:alpha val="28000"/>
              </a:srgbClr>
            </a:outerShdw>
          </a:effectLst>
        </p:spPr>
      </p:pic>
      <p:sp>
        <p:nvSpPr>
          <p:cNvPr id="6" name="Text 2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i="1" dirty="0" smtClean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Non-hate speech </a:t>
            </a:r>
            <a:r>
              <a:rPr lang="en-US" sz="11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skew toward polite / religious / topical words; </a:t>
            </a:r>
            <a:r>
              <a:rPr lang="en-US" sz="1100" i="1" dirty="0" smtClean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hate speech</a:t>
            </a:r>
            <a:r>
              <a:rPr lang="en-US" sz="1100" i="1" dirty="0" smtClean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are dominated by explicit slurs and profanity.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 Hate Speech Detection — Multi-Model NLP Benchmark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EDA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 Clouds by Class</a:t>
            </a:r>
            <a:endParaRPr lang="en-US" sz="3000" dirty="0"/>
          </a:p>
        </p:txBody>
      </p:sp>
      <p:pic>
        <p:nvPicPr>
          <p:cNvPr id="4" name="Image 0" descr="/mnt/user-data/uploads/fig03_wordcloud_non_bully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35237"/>
            <a:ext cx="5349240" cy="2753285"/>
          </a:xfrm>
          <a:prstGeom prst="rect">
            <a:avLst/>
          </a:prstGeom>
          <a:effectLst>
            <a:outerShdw blurRad="88900" dist="38100" dir="5400000" algn="bl" rotWithShape="0">
              <a:srgbClr val="16232E">
                <a:alpha val="28000"/>
              </a:srgbClr>
            </a:outerShdw>
          </a:effectLst>
        </p:spPr>
      </p:pic>
      <p:pic>
        <p:nvPicPr>
          <p:cNvPr id="5" name="Image 1" descr="/mnt/user-data/uploads/fig03_wordcloud_bully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2235237"/>
            <a:ext cx="5349240" cy="2753285"/>
          </a:xfrm>
          <a:prstGeom prst="rect">
            <a:avLst/>
          </a:prstGeom>
          <a:effectLst>
            <a:outerShdw blurRad="88900" dist="38100" dir="5400000" algn="bl" rotWithShape="0">
              <a:srgbClr val="16232E">
                <a:alpha val="28000"/>
              </a:srgbClr>
            </a:outerShdw>
          </a:effectLst>
        </p:spPr>
      </p:pic>
      <p:sp>
        <p:nvSpPr>
          <p:cNvPr id="6" name="Shape 2"/>
          <p:cNvSpPr/>
          <p:nvPr/>
        </p:nvSpPr>
        <p:spPr>
          <a:xfrm>
            <a:off x="2217420" y="548640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2E86AB"/>
          </a:solidFill>
          <a:ln/>
        </p:spPr>
      </p:sp>
      <p:sp>
        <p:nvSpPr>
          <p:cNvPr id="7" name="Text 3"/>
          <p:cNvSpPr/>
          <p:nvPr/>
        </p:nvSpPr>
        <p:spPr>
          <a:xfrm>
            <a:off x="2217420" y="548640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Non-bullying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8023860" y="548640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E2622A"/>
          </a:solidFill>
          <a:ln/>
        </p:spPr>
      </p:sp>
      <p:sp>
        <p:nvSpPr>
          <p:cNvPr id="9" name="Text 5"/>
          <p:cNvSpPr/>
          <p:nvPr/>
        </p:nvSpPr>
        <p:spPr>
          <a:xfrm>
            <a:off x="8023860" y="548640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Bullying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 Hate Speech Detection — Multi-Model NLP Benchmark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33</a:t>
            </a:r>
            <a:endParaRPr lang="en-US" sz="900" dirty="0"/>
          </a:p>
        </p:txBody>
      </p:sp>
      <p:sp>
        <p:nvSpPr>
          <p:cNvPr id="12" name="TextBox 11"/>
          <p:cNvSpPr txBox="1"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B6B79"/>
                </a:solidFill>
                <a:latin typeface="Calibri"/>
              </a:rPr>
              <a:t>Hate-speech vocabulary clusters around explicit profanity and second-person insults; non-hate vocabulary stays topical and conversational — a strong but superficial lexical signal.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·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Pipeline</a:t>
            </a:r>
            <a:endParaRPr lang="en-US" sz="3000" dirty="0"/>
          </a:p>
        </p:txBody>
      </p:sp>
      <p:pic>
        <p:nvPicPr>
          <p:cNvPr id="4" name="Image 0" descr="/mnt/user-data/uploads/bengali_hate_speech_data_pipelin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8096" y="1600200"/>
            <a:ext cx="3965328" cy="4480560"/>
          </a:xfrm>
          <a:prstGeom prst="rect">
            <a:avLst/>
          </a:prstGeom>
          <a:effectLst>
            <a:outerShdw blurRad="88900" dist="38100" dir="5400000" algn="bl" rotWithShape="0">
              <a:srgbClr val="16232E">
                <a:alpha val="2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corpus → Unicode normalisation &amp; noise cleaning → stratified 70/15/15 split → feature representation.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 Hate Speech Detection — Multi-Model NLP Benchmark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33</a:t>
            </a:r>
            <a:endParaRPr lang="en-US" sz="900" dirty="0"/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3291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880" indent="-182880">
              <a:buClr>
                <a:srgbClr val="2E86AB"/>
              </a:buClr>
              <a:buSzPct val="85000"/>
              <a:buChar char="●"/>
            </a:pPr>
            <a:r>
              <a:rPr sz="1350">
                <a:solidFill>
                  <a:srgbClr val="16232E"/>
                </a:solidFill>
                <a:latin typeface="Calibri"/>
              </a:rPr>
              <a:t>Deduplication and Unicode cleanup remove under 1% of rows</a:t>
            </a:r>
          </a:p>
          <a:p>
            <a:pPr marL="182880" indent="-182880">
              <a:buClr>
                <a:srgbClr val="2E86AB"/>
              </a:buClr>
              <a:buSzPct val="85000"/>
              <a:buChar char="●"/>
            </a:pPr>
            <a:r>
              <a:rPr sz="1350">
                <a:solidFill>
                  <a:srgbClr val="16232E"/>
                </a:solidFill>
                <a:latin typeface="Calibri"/>
              </a:rPr>
              <a:t>Fixed random seed keeps the split reproducible</a:t>
            </a:r>
          </a:p>
          <a:p>
            <a:pPr marL="182880" indent="-182880">
              <a:buClr>
                <a:srgbClr val="2E86AB"/>
              </a:buClr>
              <a:buSzPct val="85000"/>
              <a:buChar char="●"/>
            </a:pPr>
            <a:r>
              <a:rPr sz="1350">
                <a:solidFill>
                  <a:srgbClr val="16232E"/>
                </a:solidFill>
                <a:latin typeface="Calibri"/>
              </a:rPr>
              <a:t>Class balance is preserved exactly across train/val/test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192024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880" indent="-182880">
              <a:buClr>
                <a:srgbClr val="2E86AB"/>
              </a:buClr>
              <a:buSzPct val="85000"/>
              <a:buChar char="●"/>
            </a:pPr>
            <a:r>
              <a:rPr sz="1350">
                <a:solidFill>
                  <a:srgbClr val="16232E"/>
                </a:solidFill>
                <a:latin typeface="Calibri"/>
              </a:rPr>
              <a:t>70 / 15 / 15 stratified split by label</a:t>
            </a:r>
          </a:p>
          <a:p>
            <a:pPr marL="182880" indent="-182880">
              <a:buClr>
                <a:srgbClr val="2E86AB"/>
              </a:buClr>
              <a:buSzPct val="85000"/>
              <a:buChar char="●"/>
            </a:pPr>
            <a:r>
              <a:rPr sz="1350">
                <a:solidFill>
                  <a:srgbClr val="16232E"/>
                </a:solidFill>
                <a:latin typeface="Calibri"/>
              </a:rPr>
              <a:t>Three parallel feature views feed different model families</a:t>
            </a:r>
          </a:p>
          <a:p>
            <a:pPr marL="182880" indent="-182880">
              <a:buClr>
                <a:srgbClr val="2E86AB"/>
              </a:buClr>
              <a:buSzPct val="85000"/>
              <a:buChar char="●"/>
            </a:pPr>
            <a:r>
              <a:rPr sz="1350">
                <a:solidFill>
                  <a:srgbClr val="16232E"/>
                </a:solidFill>
                <a:latin typeface="Calibri"/>
              </a:rPr>
              <a:t>Test set touched exactly once, after model selection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·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Representation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1277295" cy="1234440"/>
          </a:xfrm>
          <a:prstGeom prst="roundRect">
            <a:avLst>
              <a:gd name="adj" fmla="val 6667"/>
            </a:avLst>
          </a:prstGeom>
          <a:solidFill>
            <a:srgbClr val="F3F7FA"/>
          </a:solidFill>
          <a:ln w="12700">
            <a:solidFill>
              <a:srgbClr val="DCE6EC"/>
            </a:solidFill>
            <a:prstDash val="solid"/>
          </a:ln>
          <a:effectLst>
            <a:outerShdw blurRad="63500" dist="25400" dir="5400000" algn="bl" rotWithShape="0">
              <a:srgbClr val="16232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488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488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19933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Sparse lexical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45920" y="2450592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(word + char n-gram), Bag-of-Words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11277295" cy="1234440"/>
          </a:xfrm>
          <a:prstGeom prst="roundRect">
            <a:avLst>
              <a:gd name="adj" fmla="val 6667"/>
            </a:avLst>
          </a:prstGeom>
          <a:solidFill>
            <a:srgbClr val="F3F7FA"/>
          </a:solidFill>
          <a:ln w="12700">
            <a:solidFill>
              <a:srgbClr val="DCE6EC"/>
            </a:solidFill>
            <a:prstDash val="solid"/>
          </a:ln>
          <a:effectLst>
            <a:outerShdw blurRad="63500" dist="25400" dir="5400000" algn="bl" rotWithShape="0">
              <a:srgbClr val="16232E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61188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611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45920" y="34564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embeddings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645920" y="3913632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Word2Vec, FastText, GloVe — dense but context-free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4754880"/>
            <a:ext cx="11277295" cy="1234440"/>
          </a:xfrm>
          <a:prstGeom prst="roundRect">
            <a:avLst>
              <a:gd name="adj" fmla="val 6667"/>
            </a:avLst>
          </a:prstGeom>
          <a:solidFill>
            <a:srgbClr val="F3F7FA"/>
          </a:solidFill>
          <a:ln w="12700">
            <a:solidFill>
              <a:srgbClr val="DCE6EC"/>
            </a:solidFill>
            <a:prstDash val="solid"/>
          </a:ln>
          <a:effectLst>
            <a:outerShdw blurRad="63500" dist="25400" dir="5400000" algn="bl" rotWithShape="0">
              <a:srgbClr val="16232E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5074920"/>
            <a:ext cx="594360" cy="59436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074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45920" y="49194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Contextual embeddings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45920" y="5376672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BanglaBERT, BanglaElectra transformer representations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 Hate Speech Detection — Multi-Model NLP Benchmark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· MODELS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Zoo — 17 Models, </a:t>
            </a:r>
            <a:r>
              <a:rPr lang="en-US" sz="3000" b="1" dirty="0" smtClean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</a:t>
            </a: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Families</a:t>
            </a:r>
            <a:endParaRPr lang="en-US" sz="3000" dirty="0"/>
          </a:p>
        </p:txBody>
      </p:sp>
      <p:pic>
        <p:nvPicPr>
          <p:cNvPr id="4" name="Image 0" descr="/mnt/user-data/uploads/bengali_hate_speech_model_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7004" y="1691640"/>
            <a:ext cx="7997687" cy="3246120"/>
          </a:xfrm>
          <a:prstGeom prst="rect">
            <a:avLst/>
          </a:prstGeom>
          <a:effectLst>
            <a:outerShdw blurRad="88900" dist="38100" dir="5400000" algn="bl" rotWithShape="0">
              <a:srgbClr val="16232E">
                <a:alpha val="2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457200" y="5120640"/>
            <a:ext cx="2613584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5120640"/>
            <a:ext cx="261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5559552"/>
            <a:ext cx="2613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LogReg · SVM · Naive Bayes · XGBoost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345104" y="5120640"/>
            <a:ext cx="2613584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3345104" y="5120640"/>
            <a:ext cx="261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Emb.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345104" y="5559552"/>
            <a:ext cx="2613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 · FastText · GloVe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33008" y="5120640"/>
            <a:ext cx="2613584" cy="384048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12" name="Text 9"/>
          <p:cNvSpPr/>
          <p:nvPr/>
        </p:nvSpPr>
        <p:spPr>
          <a:xfrm>
            <a:off x="6233008" y="5120640"/>
            <a:ext cx="261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233008" y="5559552"/>
            <a:ext cx="2613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TextCNN · BiLSTM + Attention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9120911" y="5120640"/>
            <a:ext cx="2613584" cy="384048"/>
          </a:xfrm>
          <a:prstGeom prst="roundRect">
            <a:avLst>
              <a:gd name="adj" fmla="val 50000"/>
            </a:avLst>
          </a:prstGeom>
          <a:solidFill>
            <a:srgbClr val="E2622A"/>
          </a:solidFill>
          <a:ln/>
        </p:spPr>
      </p:sp>
      <p:sp>
        <p:nvSpPr>
          <p:cNvPr id="15" name="Text 12"/>
          <p:cNvSpPr/>
          <p:nvPr/>
        </p:nvSpPr>
        <p:spPr>
          <a:xfrm>
            <a:off x="9120911" y="5120640"/>
            <a:ext cx="26135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120911" y="5559552"/>
            <a:ext cx="2613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BanglaBERT · BanglaElectra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 Hate Speech Detection — Multi-Model NLP Benchmark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33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· MODELS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Fusion &amp; Ensemble Strategies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60350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●"/>
            </a:pPr>
            <a:r>
              <a:rPr lang="en-US" sz="15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Fusion — concatenate TF-IDF + embedding features, then classify with LogReg or an MLP.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●"/>
            </a:pPr>
            <a:r>
              <a:rPr lang="en-US" sz="15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Fusion (weighted) — combine each model's predicted probabilities with tuned per-model weights.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●"/>
            </a:pPr>
            <a:r>
              <a:rPr lang="en-US" sz="15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(soft-vote) — average class probabilities across the strongest base models.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●"/>
            </a:pPr>
            <a:r>
              <a:rPr lang="en-US" sz="15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(stacking) — train a meta-learner on out-of-fold base-model predictions.</a:t>
            </a:r>
            <a:endParaRPr lang="en-US" sz="1500" dirty="0"/>
          </a:p>
          <a:p>
            <a:pPr marL="228600" indent="-228600">
              <a:lnSpc>
                <a:spcPct val="108000"/>
              </a:lnSpc>
              <a:spcAft>
                <a:spcPts val="1300"/>
              </a:spcAft>
              <a:buSzPct val="100000"/>
              <a:buChar char="●"/>
            </a:pPr>
            <a:r>
              <a:rPr lang="en-US" sz="15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fusion &amp; ensemble strategies occupy 4 of the top 5 leaderboard positions.</a:t>
            </a:r>
            <a:endParaRPr lang="en-US" sz="1500" dirty="0"/>
          </a:p>
        </p:txBody>
      </p:sp>
      <p:pic>
        <p:nvPicPr>
          <p:cNvPr id="5" name="Image 0" descr="/mnt/user-data/uploads/fig10_radar_top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2024643"/>
            <a:ext cx="4846320" cy="3677393"/>
          </a:xfrm>
          <a:prstGeom prst="rect">
            <a:avLst/>
          </a:prstGeom>
          <a:effectLst>
            <a:outerShdw blurRad="88900" dist="38100" dir="5400000" algn="bl" rotWithShape="0">
              <a:srgbClr val="16232E">
                <a:alpha val="28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6903720" y="59893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multi-metric profile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 Hate Speech Detection — Multi-Model NLP Benchmark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33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 · TRAINING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Dynamics</a:t>
            </a:r>
            <a:endParaRPr lang="en-US" sz="3000" dirty="0"/>
          </a:p>
        </p:txBody>
      </p:sp>
      <p:pic>
        <p:nvPicPr>
          <p:cNvPr id="4" name="Image 0" descr="/mnt/user-data/uploads/fig04_training_l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2988"/>
            <a:ext cx="5349240" cy="3989264"/>
          </a:xfrm>
          <a:prstGeom prst="rect">
            <a:avLst/>
          </a:prstGeom>
          <a:effectLst>
            <a:outerShdw blurRad="88900" dist="38100" dir="5400000" algn="bl" rotWithShape="0">
              <a:srgbClr val="16232E">
                <a:alpha val="28000"/>
              </a:srgbClr>
            </a:outerShdw>
          </a:effectLst>
        </p:spPr>
      </p:pic>
      <p:pic>
        <p:nvPicPr>
          <p:cNvPr id="5" name="Image 1" descr="/mnt/user-data/uploads/fig04_validation_f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822988"/>
            <a:ext cx="5349240" cy="3989264"/>
          </a:xfrm>
          <a:prstGeom prst="rect">
            <a:avLst/>
          </a:prstGeom>
          <a:effectLst>
            <a:outerShdw blurRad="88900" dist="38100" dir="5400000" algn="bl" rotWithShape="0">
              <a:srgbClr val="16232E">
                <a:alpha val="28000"/>
              </a:srgbClr>
            </a:outerShdw>
          </a:effectLst>
        </p:spPr>
      </p:pic>
      <p:sp>
        <p:nvSpPr>
          <p:cNvPr id="6" name="Text 2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(BanglaBERT / BanglaElectra) converge fastest and reach the highest validation F1 within 3 epochs.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 Hate Speech Detection — Multi-Model NLP Benchmark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33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 · TRAINING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 Space (UMAP)</a:t>
            </a:r>
            <a:endParaRPr lang="en-US" sz="3000" dirty="0"/>
          </a:p>
        </p:txBody>
      </p:sp>
      <p:pic>
        <p:nvPicPr>
          <p:cNvPr id="4" name="Image 0" descr="/mnt/user-data/uploads/fig05_embedding_sp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802" y="1600200"/>
            <a:ext cx="5431917" cy="4572000"/>
          </a:xfrm>
          <a:prstGeom prst="rect">
            <a:avLst/>
          </a:prstGeom>
          <a:effectLst>
            <a:outerShdw blurRad="88900" dist="38100" dir="5400000" algn="bl" rotWithShape="0">
              <a:srgbClr val="16232E">
                <a:alpha val="2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457200" y="61722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BanglaElectra test-set embeddings form two largely separable arms — bullying (orange) vs. non-bullying (blue) — with overlap concentrated near the decision boundary.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 Hate Speech Detection — Multi-Model NLP Benchmark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33</a:t>
            </a:r>
            <a:endParaRPr lang="en-US" sz="900" dirty="0"/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2743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880" indent="-182880">
              <a:buClr>
                <a:srgbClr val="2E86AB"/>
              </a:buClr>
              <a:buSzPct val="85000"/>
              <a:buChar char="●"/>
            </a:pPr>
            <a:r>
              <a:rPr sz="1350">
                <a:solidFill>
                  <a:srgbClr val="16232E"/>
                </a:solidFill>
                <a:latin typeface="Calibri"/>
              </a:rPr>
              <a:t>Each point = one test-set post</a:t>
            </a:r>
          </a:p>
          <a:p>
            <a:pPr marL="182880" indent="-182880">
              <a:buClr>
                <a:srgbClr val="2E86AB"/>
              </a:buClr>
              <a:buSzPct val="85000"/>
              <a:buChar char="●"/>
            </a:pPr>
            <a:r>
              <a:rPr sz="1350">
                <a:solidFill>
                  <a:srgbClr val="16232E"/>
                </a:solidFill>
                <a:latin typeface="Calibri"/>
              </a:rPr>
              <a:t>768-d BanglaElectra embeddings, projected to 2-D</a:t>
            </a:r>
          </a:p>
          <a:p>
            <a:pPr marL="182880" indent="-182880">
              <a:buClr>
                <a:srgbClr val="2E86AB"/>
              </a:buClr>
              <a:buSzPct val="85000"/>
              <a:buChar char="●"/>
            </a:pPr>
            <a:r>
              <a:rPr sz="1350">
                <a:solidFill>
                  <a:srgbClr val="16232E"/>
                </a:solidFill>
                <a:latin typeface="Calibri"/>
              </a:rPr>
              <a:t>Colour = ground-truth label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2103120"/>
            <a:ext cx="2697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880" indent="-182880">
              <a:buClr>
                <a:srgbClr val="2E86AB"/>
              </a:buClr>
              <a:buSzPct val="85000"/>
              <a:buChar char="●"/>
            </a:pPr>
            <a:r>
              <a:rPr sz="1350">
                <a:solidFill>
                  <a:srgbClr val="16232E"/>
                </a:solidFill>
                <a:latin typeface="Calibri"/>
              </a:rPr>
              <a:t>Two-lobe structure emerges without explicit supervision at this layer</a:t>
            </a:r>
          </a:p>
          <a:p>
            <a:pPr marL="182880" indent="-182880">
              <a:buClr>
                <a:srgbClr val="2E86AB"/>
              </a:buClr>
              <a:buSzPct val="85000"/>
              <a:buChar char="●"/>
            </a:pPr>
            <a:r>
              <a:rPr sz="1350">
                <a:solidFill>
                  <a:srgbClr val="16232E"/>
                </a:solidFill>
                <a:latin typeface="Calibri"/>
              </a:rPr>
              <a:t>Overlap zone flags posts that likely need human review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·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Pipeline</a:t>
            </a:r>
            <a:endParaRPr lang="en-US" sz="3000" dirty="0"/>
          </a:p>
        </p:txBody>
      </p:sp>
      <p:pic>
        <p:nvPicPr>
          <p:cNvPr id="4" name="Image 0" descr="/mnt/user-data/uploads/bengali_hate_speech_evaluation_pipelin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4432" y="1554480"/>
            <a:ext cx="4212657" cy="4617720"/>
          </a:xfrm>
          <a:prstGeom prst="rect">
            <a:avLst/>
          </a:prstGeom>
          <a:effectLst>
            <a:outerShdw blurRad="88900" dist="38100" dir="5400000" algn="bl" rotWithShape="0">
              <a:srgbClr val="16232E">
                <a:alpha val="2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 Hate Speech Detection — Multi-Model NLP Benchmark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33</a:t>
            </a:r>
            <a:endParaRPr lang="en-US" sz="900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880" indent="-182880">
              <a:buClr>
                <a:srgbClr val="2E86AB"/>
              </a:buClr>
              <a:buSzPct val="85000"/>
              <a:buChar char="●"/>
            </a:pPr>
            <a:r>
              <a:rPr sz="1350">
                <a:solidFill>
                  <a:srgbClr val="16232E"/>
                </a:solidFill>
                <a:latin typeface="Calibri"/>
              </a:rPr>
              <a:t>Every model scored on the same held-out test set with 11 shared metrics</a:t>
            </a:r>
          </a:p>
          <a:p>
            <a:pPr marL="182880" indent="-182880">
              <a:buClr>
                <a:srgbClr val="2E86AB"/>
              </a:buClr>
              <a:buSzPct val="85000"/>
              <a:buChar char="●"/>
            </a:pPr>
            <a:r>
              <a:rPr sz="1350">
                <a:solidFill>
                  <a:srgbClr val="16232E"/>
                </a:solidFill>
                <a:latin typeface="Calibri"/>
              </a:rPr>
              <a:t>XAI and uncertainty analyses run on the top-performing models only</a:t>
            </a:r>
          </a:p>
          <a:p>
            <a:pPr marL="182880" indent="-182880">
              <a:buClr>
                <a:srgbClr val="2E86AB"/>
              </a:buClr>
              <a:buSzPct val="85000"/>
              <a:buChar char="●"/>
            </a:pPr>
            <a:r>
              <a:rPr sz="1350">
                <a:solidFill>
                  <a:srgbClr val="16232E"/>
                </a:solidFill>
                <a:latin typeface="Calibri"/>
              </a:rPr>
              <a:t>One script regenerates all figures and tables end-to-end from raw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B6B79"/>
                </a:solidFill>
                <a:latin typeface="Calibri"/>
              </a:rPr>
              <a:t>One pipeline, four stages: comparison → explanation → uncertainty → camera-ready outputs.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·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 Results — Top Models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47120" cy="4206240"/>
        </p:xfrm>
        <a:graphic>
          <a:graphicData uri="http://schemas.openxmlformats.org/drawingml/2006/table">
            <a:tbl>
              <a:tblPr/>
              <a:tblGrid>
                <a:gridCol w="306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F1-macro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ROC-AUC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6232E"/>
                          </a:solidFill>
                        </a:rPr>
                        <a:t>Ensemble (stacking)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90.68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86.26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85.74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89.51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96.39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Ensemble (soft-vote)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90.57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84.45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87.95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89.51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96.37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Late Fusion (weighted)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90.44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84.70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87.08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89.32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96.21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BanglaElectra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90.32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83.60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88.35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89.27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96.05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Early Fusion (MLP)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90.17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81.98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90.43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89.21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95.94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TF-IDF + XGBoost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89.59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84.54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84.20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88.28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94.95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BanglaBERT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89.16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80.26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89.56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88.14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95.72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TF-IDF + LogReg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89.30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84.18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83.67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87.95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95.02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08076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leaderboard of 17 models spans classical ML, static embeddings, deep nets, transformers, and fusion/ensembles.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 Hate Speech Detection — Multi-Model NLP Benchmark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33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·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Comparative Performance</a:t>
            </a:r>
            <a:endParaRPr lang="en-US" sz="3000" dirty="0"/>
          </a:p>
        </p:txBody>
      </p:sp>
      <p:pic>
        <p:nvPicPr>
          <p:cNvPr id="4" name="Image 0" descr="/mnt/user-data/uploads/fig06_metric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97228"/>
            <a:ext cx="11277295" cy="4086504"/>
          </a:xfrm>
          <a:prstGeom prst="rect">
            <a:avLst/>
          </a:prstGeom>
          <a:effectLst>
            <a:outerShdw blurRad="88900" dist="38100" dir="5400000" algn="bl" rotWithShape="0">
              <a:srgbClr val="16232E">
                <a:alpha val="2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 Hate Speech Detection — Multi-Model NLP Benchmark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33</a:t>
            </a:r>
            <a:endParaRPr lang="en-US" sz="900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B6B79"/>
                </a:solidFill>
                <a:latin typeface="Calibri"/>
              </a:rPr>
              <a:t>All top-10 models sit within a few points of each other on every metric — no single approach dominates accuracy, precision, recall, and F1 simultaneously.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·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F1-macro with 95% Confidence Intervals</a:t>
            </a:r>
            <a:endParaRPr lang="en-US" sz="3000" dirty="0"/>
          </a:p>
        </p:txBody>
      </p:sp>
      <p:pic>
        <p:nvPicPr>
          <p:cNvPr id="4" name="Image 0" descr="/mnt/user-data/uploads/fig07_f1_confidence_interv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1656" y="1600200"/>
            <a:ext cx="4278208" cy="4617720"/>
          </a:xfrm>
          <a:prstGeom prst="rect">
            <a:avLst/>
          </a:prstGeom>
          <a:effectLst>
            <a:outerShdw blurRad="88900" dist="38100" dir="5400000" algn="bl" rotWithShape="0">
              <a:srgbClr val="16232E">
                <a:alpha val="2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 Hate Speech Detection — Multi-Model NLP Benchmark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33</a:t>
            </a:r>
            <a:endParaRPr lang="en-US" sz="900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880" indent="-182880">
              <a:buClr>
                <a:srgbClr val="2E86AB"/>
              </a:buClr>
              <a:buSzPct val="85000"/>
              <a:buChar char="●"/>
            </a:pPr>
            <a:r>
              <a:rPr sz="1350">
                <a:solidFill>
                  <a:srgbClr val="16232E"/>
                </a:solidFill>
                <a:latin typeface="Calibri"/>
              </a:rPr>
              <a:t>Whiskers show 95% bootstrap confidence intervals</a:t>
            </a:r>
          </a:p>
          <a:p>
            <a:pPr marL="182880" indent="-182880">
              <a:buClr>
                <a:srgbClr val="2E86AB"/>
              </a:buClr>
              <a:buSzPct val="85000"/>
              <a:buChar char="●"/>
            </a:pPr>
            <a:r>
              <a:rPr sz="1350">
                <a:solidFill>
                  <a:srgbClr val="16232E"/>
                </a:solidFill>
                <a:latin typeface="Calibri"/>
              </a:rPr>
              <a:t>Top-5 intervals overlap heavily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2103120"/>
            <a:ext cx="2971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880" indent="-182880">
              <a:buClr>
                <a:srgbClr val="2E86AB"/>
              </a:buClr>
              <a:buSzPct val="85000"/>
              <a:buChar char="●"/>
            </a:pPr>
            <a:r>
              <a:rPr sz="1350">
                <a:solidFill>
                  <a:srgbClr val="16232E"/>
                </a:solidFill>
                <a:latin typeface="Calibri"/>
              </a:rPr>
              <a:t>Wide overlap means the visual ranking is not yet a statistically confirmed ordering</a:t>
            </a:r>
          </a:p>
          <a:p>
            <a:pPr marL="182880" indent="-182880">
              <a:buClr>
                <a:srgbClr val="2E86AB"/>
              </a:buClr>
              <a:buSzPct val="85000"/>
              <a:buChar char="●"/>
            </a:pPr>
            <a:r>
              <a:rPr sz="1350">
                <a:solidFill>
                  <a:srgbClr val="16232E"/>
                </a:solidFill>
                <a:latin typeface="Calibri"/>
              </a:rPr>
              <a:t>See the McNemar test, next slide, for pairwise significance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17920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B6B79"/>
                </a:solidFill>
                <a:latin typeface="Calibri"/>
              </a:rPr>
              <a:t>A tighter estimate needs either more test data or a paired significance test — both are covered next.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92608"/>
            <a:ext cx="112745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A541"/>
                </a:solidFill>
                <a:latin typeface="Calibri"/>
              </a:rPr>
              <a:t>SECTION 10 ·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455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65A82"/>
                </a:solidFill>
                <a:latin typeface="Cambria"/>
              </a:rPr>
              <a:t>Accuracy–Efficiency Trade-off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00200"/>
            <a:ext cx="3657600" cy="4343400"/>
          </a:xfrm>
          <a:prstGeom prst="roundRect">
            <a:avLst/>
          </a:prstGeom>
          <a:solidFill>
            <a:srgbClr val="F3F7FA"/>
          </a:solidFill>
          <a:ln w="12700">
            <a:solidFill>
              <a:srgbClr val="E1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065A82"/>
                </a:solidFill>
                <a:latin typeface="Calibri"/>
              </a:rPr>
              <a:t>What the F1 result means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23160"/>
            <a:ext cx="30632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dirty="0">
                <a:solidFill>
                  <a:srgbClr val="16322E"/>
                </a:solidFill>
                <a:latin typeface="Calibri"/>
              </a:rPr>
              <a:t>F1-macro is the primary selection criterion because the dataset has an approximately 1:2 class imbalance.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520440"/>
            <a:ext cx="30632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dirty="0">
                <a:solidFill>
                  <a:srgbClr val="16322E"/>
                </a:solidFill>
                <a:latin typeface="Calibri"/>
              </a:rPr>
              <a:t>The practical question is not only “Which model scores highest?” but also “Is the small gain worth the added deployment cost?”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892040"/>
            <a:ext cx="3063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2D7D5A"/>
                </a:solidFill>
                <a:latin typeface="Calibri"/>
              </a:rPr>
              <a:t>Takeaway: a near-optimal single transformer can be preferable to a costlier ensemble.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600200"/>
            <a:ext cx="7223760" cy="1234440"/>
          </a:xfrm>
          <a:prstGeom prst="roundRect">
            <a:avLst/>
          </a:prstGeom>
          <a:solidFill>
            <a:srgbClr val="E9F1F6"/>
          </a:solidFill>
          <a:ln w="12700">
            <a:solidFill>
              <a:srgbClr val="E1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26280" y="1600200"/>
            <a:ext cx="109728" cy="1234440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00600" y="176479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322E"/>
                </a:solidFill>
                <a:latin typeface="Calibri"/>
              </a:rPr>
              <a:t>Stacked Ensemble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1764792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2A541"/>
                </a:solidFill>
                <a:latin typeface="Calibri"/>
              </a:rPr>
              <a:t>F1-macro 0.8951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920" y="1764792"/>
            <a:ext cx="1828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5B6B79"/>
                </a:solidFill>
                <a:latin typeface="Calibri"/>
              </a:rPr>
              <a:t>Highest score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3017520"/>
            <a:ext cx="7223760" cy="1234440"/>
          </a:xfrm>
          <a:prstGeom prst="roundRect">
            <a:avLst/>
          </a:prstGeom>
          <a:solidFill>
            <a:srgbClr val="E9F1F6"/>
          </a:solidFill>
          <a:ln w="12700">
            <a:solidFill>
              <a:srgbClr val="E1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26280" y="3017520"/>
            <a:ext cx="109728" cy="12344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00600" y="318211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322E"/>
                </a:solidFill>
                <a:latin typeface="Calibri"/>
              </a:rPr>
              <a:t>BanglaELECTRA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3182112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65A82"/>
                </a:solidFill>
                <a:latin typeface="Calibri"/>
              </a:rPr>
              <a:t>F1-macro 0.8927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6920" y="3182112"/>
            <a:ext cx="1828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5B6B79"/>
                </a:solidFill>
                <a:latin typeface="Calibri"/>
              </a:rPr>
              <a:t>Near-optimal single model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26280" y="4434840"/>
            <a:ext cx="7223760" cy="1234440"/>
          </a:xfrm>
          <a:prstGeom prst="roundRect">
            <a:avLst/>
          </a:prstGeom>
          <a:solidFill>
            <a:srgbClr val="E9F1F6"/>
          </a:solidFill>
          <a:ln w="12700">
            <a:solidFill>
              <a:srgbClr val="E1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26280" y="4434840"/>
            <a:ext cx="109728" cy="1234440"/>
          </a:xfrm>
          <a:prstGeom prst="rect">
            <a:avLst/>
          </a:prstGeom>
          <a:solidFill>
            <a:srgbClr val="2D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00600" y="4599431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322E"/>
                </a:solidFill>
                <a:latin typeface="Calibri"/>
              </a:rPr>
              <a:t>TF-IDF + XGBoost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4599431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D7D5A"/>
                </a:solidFill>
                <a:latin typeface="Calibri"/>
              </a:rPr>
              <a:t>F1-macro 0.8828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4599431"/>
            <a:ext cx="1828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5B6B79"/>
                </a:solidFill>
                <a:latin typeface="Calibri"/>
              </a:rPr>
              <a:t>Strong classical baseline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26280" y="5532120"/>
            <a:ext cx="7223760" cy="502920"/>
          </a:xfrm>
          <a:prstGeom prst="roundRect">
            <a:avLst/>
          </a:prstGeom>
          <a:solidFill>
            <a:srgbClr val="F3F7FA"/>
          </a:solidFill>
          <a:ln w="12700">
            <a:solidFill>
              <a:srgbClr val="E1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09160" y="5623560"/>
            <a:ext cx="6858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6322E"/>
                </a:solidFill>
                <a:latin typeface="Calibri"/>
              </a:rPr>
              <a:t>Only a small F1-macro gain separates the ensemble from BanglaELECTRA.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B79"/>
                </a:solidFill>
                <a:latin typeface="Calibri"/>
              </a:rPr>
              <a:t>Bengali Hate Speech Detection — Multi-Model NLP Benchmark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60152" y="647395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B79"/>
                </a:solidFill>
                <a:latin typeface="Calibri"/>
              </a:rPr>
              <a:t>35 / 35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·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 &amp; Precision–Recall Curves</a:t>
            </a:r>
            <a:endParaRPr lang="en-US" sz="3000" dirty="0"/>
          </a:p>
        </p:txBody>
      </p:sp>
      <p:pic>
        <p:nvPicPr>
          <p:cNvPr id="4" name="Image 0" descr="/mnt/user-data/uploads/fig08_roc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69864"/>
            <a:ext cx="5349240" cy="4095512"/>
          </a:xfrm>
          <a:prstGeom prst="rect">
            <a:avLst/>
          </a:prstGeom>
          <a:effectLst>
            <a:outerShdw blurRad="88900" dist="38100" dir="5400000" algn="bl" rotWithShape="0">
              <a:srgbClr val="16232E">
                <a:alpha val="28000"/>
              </a:srgbClr>
            </a:outerShdw>
          </a:effectLst>
        </p:spPr>
      </p:pic>
      <p:pic>
        <p:nvPicPr>
          <p:cNvPr id="5" name="Image 1" descr="/mnt/user-data/uploads/fig08_pr_cur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769864"/>
            <a:ext cx="5349240" cy="4095512"/>
          </a:xfrm>
          <a:prstGeom prst="rect">
            <a:avLst/>
          </a:prstGeom>
          <a:effectLst>
            <a:outerShdw blurRad="88900" dist="38100" dir="5400000" algn="bl" rotWithShape="0">
              <a:srgbClr val="16232E">
                <a:alpha val="28000"/>
              </a:srgbClr>
            </a:outerShdw>
          </a:effectLst>
        </p:spPr>
      </p:pic>
      <p:sp>
        <p:nvSpPr>
          <p:cNvPr id="6" name="Text 2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models cluster tightly: ROC-AUC up to 0.964 and PR-AUC up to 0.931 for the soft-vote ensemble.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 Hate Speech Detection — Multi-Model NLP Benchmark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33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 · SIGNIFICANCE &amp; ERRORS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Significance (McNemar Test)</a:t>
            </a:r>
            <a:endParaRPr lang="en-US" sz="3000" dirty="0"/>
          </a:p>
        </p:txBody>
      </p:sp>
      <p:pic>
        <p:nvPicPr>
          <p:cNvPr id="4" name="Image 0" descr="/mnt/user-data/uploads/fig12_mcnemar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4002" y="1600200"/>
            <a:ext cx="5773515" cy="4572000"/>
          </a:xfrm>
          <a:prstGeom prst="rect">
            <a:avLst/>
          </a:prstGeom>
          <a:effectLst>
            <a:outerShdw blurRad="88900" dist="38100" dir="5400000" algn="bl" rotWithShape="0">
              <a:srgbClr val="16232E">
                <a:alpha val="2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457200" y="617220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top-5 models are statistically indistinguishable (p &gt; 0.05); Early Fusion (LogReg) is significantly weaker (p &lt; 0.05 vs. every top model).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 Hate Speech Detection — Multi-Model NLP Benchmark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33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 · SIGNIFICANCE &amp; ERRORS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Matrices — Best Models</a:t>
            </a:r>
            <a:endParaRPr lang="en-US" sz="3000" dirty="0"/>
          </a:p>
        </p:txBody>
      </p:sp>
      <p:pic>
        <p:nvPicPr>
          <p:cNvPr id="4" name="Image 0" descr="/mnt/user-data/uploads/fig09_confusion_matrix_ensemble__soft_vote__f1_08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184" y="1463040"/>
            <a:ext cx="4356992" cy="3931920"/>
          </a:xfrm>
          <a:prstGeom prst="rect">
            <a:avLst/>
          </a:prstGeom>
          <a:effectLst>
            <a:outerShdw blurRad="88900" dist="38100" dir="5400000" algn="bl" rotWithShape="0">
              <a:srgbClr val="16232E">
                <a:alpha val="28000"/>
              </a:srgbClr>
            </a:outerShdw>
          </a:effectLst>
        </p:spPr>
      </p:pic>
      <p:pic>
        <p:nvPicPr>
          <p:cNvPr id="5" name="Image 1" descr="/mnt/user-data/uploads/fig09_confusion_matrix_banglaelectra_f1_08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5464" y="1463040"/>
            <a:ext cx="4356992" cy="3931920"/>
          </a:xfrm>
          <a:prstGeom prst="rect">
            <a:avLst/>
          </a:prstGeom>
          <a:effectLst>
            <a:outerShdw blurRad="88900" dist="38100" dir="5400000" algn="bl" rotWithShape="0">
              <a:srgbClr val="16232E">
                <a:alpha val="28000"/>
              </a:srgbClr>
            </a:outerShdw>
          </a:effectLst>
        </p:spPr>
      </p:pic>
      <p:sp>
        <p:nvSpPr>
          <p:cNvPr id="6" name="Shape 2"/>
          <p:cNvSpPr/>
          <p:nvPr/>
        </p:nvSpPr>
        <p:spPr>
          <a:xfrm>
            <a:off x="1737360" y="548640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7" name="Text 3"/>
          <p:cNvSpPr/>
          <p:nvPr/>
        </p:nvSpPr>
        <p:spPr>
          <a:xfrm>
            <a:off x="1737360" y="5486400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(soft-vote) · F1=0.895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7406640" y="548640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5"/>
          <p:cNvSpPr/>
          <p:nvPr/>
        </p:nvSpPr>
        <p:spPr>
          <a:xfrm>
            <a:off x="7406640" y="5486400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BanglaElectra · F1=0.893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 Hate Speech Detection — Multi-Model NLP Benchmark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33</a:t>
            </a:r>
            <a:endParaRPr lang="en-US" sz="900" dirty="0"/>
          </a:p>
        </p:txBody>
      </p:sp>
      <p:sp>
        <p:nvSpPr>
          <p:cNvPr id="12" name="TextBox 11"/>
          <p:cNvSpPr txBox="1"/>
          <p:nvPr/>
        </p:nvSpPr>
        <p:spPr>
          <a:xfrm>
            <a:off x="457200" y="587044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B6B79"/>
                </a:solidFill>
                <a:latin typeface="Calibri"/>
              </a:rPr>
              <a:t>Both top models miss roughly 1 in 7 hate-speech posts (recall ≈ 86%) — false negatives concentrate on implicit or sarcastic hate lacking explicit slurs.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 · SIGNIFICANCE &amp; ERRORS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Ruling Out Leakage as the Cause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47120" cy="2336800"/>
        </p:xfrm>
        <a:graphic>
          <a:graphicData uri="http://schemas.openxmlformats.org/drawingml/2006/table">
            <a:tbl>
              <a:tblPr/>
              <a:tblGrid>
                <a:gridCol w="306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1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1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Rows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Pos. Share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6232E"/>
                          </a:solidFill>
                        </a:rPr>
                        <a:t>Raw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30,000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Parsed labels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30,000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33.33%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After NA drop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30,000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33.33%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After de-duplication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29,836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33.38%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08076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NaN label-parsing failures; de-dup. removes a near-identical share of positives (0.4%) and negatives (0.6%) — class ratio essentially unchanged. TF-IDF beats raw bag-of-words by 1.3–1.5 F1-macro pts; longer-context transformers (128 tok) did not improve on the 64-token config.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 Hate Speech Detection — Multi-Model NLP Benchmark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33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 · SIGNIFICANCE &amp; ERRORS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the Ranking Hold on a Second Corpus?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47120" cy="2804160"/>
        </p:xfrm>
        <a:graphic>
          <a:graphicData uri="http://schemas.openxmlformats.org/drawingml/2006/table">
            <a:tbl>
              <a:tblPr/>
              <a:tblGrid>
                <a:gridCol w="306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1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1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F1-macro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ROC-AUC</a:t>
                      </a:r>
                      <a:endParaRPr lang="en-US" sz="125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6232E"/>
                          </a:solidFill>
                        </a:rPr>
                        <a:t>Ensemble (stacking)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91.97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97.34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BanglaELECTRA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91.68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97.34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TF-IDF + XGBoost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90.38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96.11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TextCNN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88.76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95.23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GloVe + LogReg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70.03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</a:rPr>
                        <a:t>77.09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08076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protocol re-run end-to-end on BD-SHS (50,281 comments, 48.0% hate speech). Family ordering reproduces almost exactly: Spearman ρ = 0.988 (p &lt; 0.001). Uncertainty findings replicate too — ECE drops 62% (0.0326 → 0.0125) after temperature scaling.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 Hate Speech Detection — Multi-Model NLP Benchmark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33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12 · EXPLAINABLE 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Feature Importance</a:t>
            </a:r>
            <a:endParaRPr lang="en-US" sz="3000" dirty="0"/>
          </a:p>
        </p:txBody>
      </p:sp>
      <p:pic>
        <p:nvPicPr>
          <p:cNvPr id="4" name="Image 0" descr="/mnt/user-data/uploads/fig13_global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706" y="1737360"/>
            <a:ext cx="4494228" cy="4160520"/>
          </a:xfrm>
          <a:prstGeom prst="rect">
            <a:avLst/>
          </a:prstGeom>
          <a:effectLst>
            <a:outerShdw blurRad="88900" dist="38100" dir="5400000" algn="bl" rotWithShape="0">
              <a:srgbClr val="16232E">
                <a:alpha val="28000"/>
              </a:srgbClr>
            </a:outerShdw>
          </a:effectLst>
        </p:spPr>
      </p:pic>
      <p:pic>
        <p:nvPicPr>
          <p:cNvPr id="5" name="Image 1" descr="/mnt/user-data/uploads/fig_sh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7432" y="1737360"/>
            <a:ext cx="5061655" cy="4160520"/>
          </a:xfrm>
          <a:prstGeom prst="rect">
            <a:avLst/>
          </a:prstGeom>
          <a:effectLst>
            <a:outerShdw blurRad="88900" dist="38100" dir="5400000" algn="bl" rotWithShape="0">
              <a:srgbClr val="16232E">
                <a:alpha val="28000"/>
              </a:srgbClr>
            </a:outerShdw>
          </a:effectLst>
        </p:spPr>
      </p:pic>
      <p:sp>
        <p:nvSpPr>
          <p:cNvPr id="6" name="Text 2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LogReg coefficients (left) and SHAP values (right) agree: explicit slurs push predictions toward “bullying”; formal / respectful terms push toward “non-bullying.”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 Hate Speech Detection — Multi-Model NLP Benchmark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33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12 · EXPLAINABLE 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Studies — LIME Explanations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566160" y="1783080"/>
            <a:ext cx="2651760" cy="320040"/>
          </a:xfrm>
          <a:prstGeom prst="roundRect">
            <a:avLst>
              <a:gd name="adj" fmla="val 50000"/>
            </a:avLst>
          </a:prstGeom>
          <a:solidFill>
            <a:srgbClr val="E2622A"/>
          </a:solidFill>
          <a:ln/>
        </p:spPr>
      </p:sp>
      <p:sp>
        <p:nvSpPr>
          <p:cNvPr id="5" name="Text 3"/>
          <p:cNvSpPr/>
          <p:nvPr/>
        </p:nvSpPr>
        <p:spPr>
          <a:xfrm>
            <a:off x="3566160" y="1783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</a:t>
            </a:r>
            <a:endParaRPr lang="en-US" sz="1100" dirty="0"/>
          </a:p>
        </p:txBody>
      </p:sp>
      <p:pic>
        <p:nvPicPr>
          <p:cNvPr id="6" name="Image 0" descr="/mnt/user-data/uploads/fig15_lime_T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2185848"/>
            <a:ext cx="2651760" cy="1635912"/>
          </a:xfrm>
          <a:prstGeom prst="rect">
            <a:avLst/>
          </a:prstGeom>
          <a:effectLst>
            <a:outerShdw blurRad="88900" dist="38100" dir="5400000" algn="bl" rotWithShape="0">
              <a:srgbClr val="16232E">
                <a:alpha val="28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6446520" y="1783080"/>
            <a:ext cx="2651760" cy="32004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8" name="Text 5"/>
          <p:cNvSpPr/>
          <p:nvPr/>
        </p:nvSpPr>
        <p:spPr>
          <a:xfrm>
            <a:off x="6446520" y="1783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1100" dirty="0"/>
          </a:p>
        </p:txBody>
      </p:sp>
      <p:pic>
        <p:nvPicPr>
          <p:cNvPr id="9" name="Image 1" descr="/mnt/user-data/uploads/fig15_lime_F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188384"/>
            <a:ext cx="2651760" cy="1630841"/>
          </a:xfrm>
          <a:prstGeom prst="rect">
            <a:avLst/>
          </a:prstGeom>
          <a:effectLst>
            <a:outerShdw blurRad="88900" dist="38100" dir="5400000" algn="bl" rotWithShape="0">
              <a:srgbClr val="16232E">
                <a:alpha val="28000"/>
              </a:srgbClr>
            </a:outerShdw>
          </a:effectLst>
        </p:spPr>
      </p:pic>
      <p:sp>
        <p:nvSpPr>
          <p:cNvPr id="10" name="Shape 6"/>
          <p:cNvSpPr/>
          <p:nvPr/>
        </p:nvSpPr>
        <p:spPr>
          <a:xfrm>
            <a:off x="3566160" y="3794760"/>
            <a:ext cx="2651760" cy="32004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11" name="Text 7"/>
          <p:cNvSpPr/>
          <p:nvPr/>
        </p:nvSpPr>
        <p:spPr>
          <a:xfrm>
            <a:off x="3566160" y="3794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</a:t>
            </a:r>
            <a:endParaRPr lang="en-US" sz="1100" dirty="0"/>
          </a:p>
        </p:txBody>
      </p:sp>
      <p:pic>
        <p:nvPicPr>
          <p:cNvPr id="12" name="Image 2" descr="/mnt/user-data/uploads/fig15_lime_F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7264" y="4178808"/>
            <a:ext cx="2609552" cy="1673352"/>
          </a:xfrm>
          <a:prstGeom prst="rect">
            <a:avLst/>
          </a:prstGeom>
          <a:effectLst>
            <a:outerShdw blurRad="88900" dist="38100" dir="5400000" algn="bl" rotWithShape="0">
              <a:srgbClr val="16232E">
                <a:alpha val="28000"/>
              </a:srgbClr>
            </a:outerShdw>
          </a:effectLst>
        </p:spPr>
      </p:pic>
      <p:sp>
        <p:nvSpPr>
          <p:cNvPr id="13" name="Shape 8"/>
          <p:cNvSpPr/>
          <p:nvPr/>
        </p:nvSpPr>
        <p:spPr>
          <a:xfrm>
            <a:off x="6446520" y="3794760"/>
            <a:ext cx="2651760" cy="320040"/>
          </a:xfrm>
          <a:prstGeom prst="roundRect">
            <a:avLst>
              <a:gd name="adj" fmla="val 50000"/>
            </a:avLst>
          </a:prstGeom>
          <a:solidFill>
            <a:srgbClr val="2E86AB"/>
          </a:solidFill>
          <a:ln/>
        </p:spPr>
      </p:sp>
      <p:sp>
        <p:nvSpPr>
          <p:cNvPr id="14" name="Text 9"/>
          <p:cNvSpPr/>
          <p:nvPr/>
        </p:nvSpPr>
        <p:spPr>
          <a:xfrm>
            <a:off x="6446520" y="3794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</a:t>
            </a:r>
            <a:endParaRPr lang="en-US" sz="1100" dirty="0"/>
          </a:p>
        </p:txBody>
      </p:sp>
      <p:pic>
        <p:nvPicPr>
          <p:cNvPr id="15" name="Image 3" descr="/mnt/user-data/uploads/fig15_lime_T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4189308"/>
            <a:ext cx="2651760" cy="1652353"/>
          </a:xfrm>
          <a:prstGeom prst="rect">
            <a:avLst/>
          </a:prstGeom>
          <a:effectLst>
            <a:outerShdw blurRad="88900" dist="38100" dir="5400000" algn="bl" rotWithShape="0">
              <a:srgbClr val="16232E">
                <a:alpha val="28000"/>
              </a:srgbClr>
            </a:outerShdw>
          </a:effectLst>
        </p:spPr>
      </p:pic>
      <p:sp>
        <p:nvSpPr>
          <p:cNvPr id="16" name="Text 10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 Hate Speech Detection — Multi-Model NLP Benchmark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33</a:t>
            </a:r>
            <a:endParaRPr lang="en-US" sz="900" dirty="0"/>
          </a:p>
        </p:txBody>
      </p:sp>
      <p:sp>
        <p:nvSpPr>
          <p:cNvPr id="18" name="TextBox 17"/>
          <p:cNvSpPr txBox="1"/>
          <p:nvPr/>
        </p:nvSpPr>
        <p:spPr>
          <a:xfrm>
            <a:off x="457200" y="598932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5B6B79"/>
                </a:solidFill>
                <a:latin typeface="Calibri"/>
              </a:rPr>
              <a:t>One consistent pattern across all four outcomes: explicit slurs are caught reliably; sarcasm, coded language, and topical-but-neutral phrasing are what the model still gets wrong.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13 · UNCERTAINTY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Uncertainty Quantification</a:t>
            </a:r>
            <a:endParaRPr lang="en-US" sz="3000" dirty="0"/>
          </a:p>
        </p:txBody>
      </p:sp>
      <p:pic>
        <p:nvPicPr>
          <p:cNvPr id="4" name="Image 0" descr="/mnt/user-data/uploads/fig17_uncertainty_separates_err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" y="1737360"/>
            <a:ext cx="5844540" cy="4160520"/>
          </a:xfrm>
          <a:prstGeom prst="rect">
            <a:avLst/>
          </a:prstGeom>
          <a:effectLst>
            <a:outerShdw blurRad="88900" dist="38100" dir="5400000" algn="bl" rotWithShape="0">
              <a:srgbClr val="16232E">
                <a:alpha val="2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6400800" y="173736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F3F7FA"/>
          </a:solidFill>
          <a:ln w="12700">
            <a:solidFill>
              <a:srgbClr val="DCE6EC"/>
            </a:solidFill>
            <a:prstDash val="solid"/>
          </a:ln>
          <a:effectLst>
            <a:outerShdw blurRad="76200" dist="25400" dir="5400000" algn="bl" rotWithShape="0">
              <a:srgbClr val="16232E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629400" y="192024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entropy by outcome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629400" y="2423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predictions (n=4,024)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966960" y="24231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0.208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629400" y="286207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Misclassified (n=451)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966960" y="2862072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0.476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629400" y="330098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Epistemic (MI) — correct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966960" y="3300984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0.0044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629400" y="373989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Epistemic (MI) — misclassified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9966960" y="3739896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0.0194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629400" y="4480560"/>
            <a:ext cx="4892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Misclassified posts carry ~2.3x higher predictive entropy and ~4.4x higher epistemic uncertainty — a strong signal for selective abstention.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 Hate Speech Detection — Multi-Model NLP Benchmark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33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13 · UNCERTAINTY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 &amp; Selective Prediction</a:t>
            </a:r>
            <a:endParaRPr lang="en-US" sz="3000" dirty="0"/>
          </a:p>
        </p:txBody>
      </p:sp>
      <p:pic>
        <p:nvPicPr>
          <p:cNvPr id="4" name="Image 0" descr="/mnt/user-data/uploads/fig19_reliability_before_ece_003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506" y="1737360"/>
            <a:ext cx="4702629" cy="3657600"/>
          </a:xfrm>
          <a:prstGeom prst="rect">
            <a:avLst/>
          </a:prstGeom>
          <a:effectLst>
            <a:outerShdw blurRad="88900" dist="38100" dir="5400000" algn="bl" rotWithShape="0">
              <a:srgbClr val="16232E">
                <a:alpha val="28000"/>
              </a:srgbClr>
            </a:outerShdw>
          </a:effectLst>
        </p:spPr>
      </p:pic>
      <p:pic>
        <p:nvPicPr>
          <p:cNvPr id="5" name="Image 1" descr="/mnt/user-data/uploads/fig19_reliability_after_ece_002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6946" y="1737360"/>
            <a:ext cx="4702629" cy="3657600"/>
          </a:xfrm>
          <a:prstGeom prst="rect">
            <a:avLst/>
          </a:prstGeom>
          <a:effectLst>
            <a:outerShdw blurRad="88900" dist="38100" dir="5400000" algn="bl" rotWithShape="0">
              <a:srgbClr val="16232E">
                <a:alpha val="28000"/>
              </a:srgbClr>
            </a:outerShdw>
          </a:effectLst>
        </p:spPr>
      </p:pic>
      <p:sp>
        <p:nvSpPr>
          <p:cNvPr id="6" name="Shape 2"/>
          <p:cNvSpPr/>
          <p:nvPr/>
        </p:nvSpPr>
        <p:spPr>
          <a:xfrm>
            <a:off x="1943100" y="54406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E2622A"/>
          </a:solidFill>
          <a:ln/>
        </p:spPr>
      </p:sp>
      <p:sp>
        <p:nvSpPr>
          <p:cNvPr id="7" name="Text 3"/>
          <p:cNvSpPr/>
          <p:nvPr/>
        </p:nvSpPr>
        <p:spPr>
          <a:xfrm>
            <a:off x="1943100" y="544068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· ECE = 0.0324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7749540" y="54406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2E86AB"/>
          </a:solidFill>
          <a:ln/>
        </p:spPr>
      </p:sp>
      <p:sp>
        <p:nvSpPr>
          <p:cNvPr id="9" name="Text 5"/>
          <p:cNvSpPr/>
          <p:nvPr/>
        </p:nvSpPr>
        <p:spPr>
          <a:xfrm>
            <a:off x="7749540" y="544068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· ECE = 0.0248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57200" y="589788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scaling (T=1.15) tightens calibration — empirical accuracy now tracks predicted confidence far more closely.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 Hate Speech Detection — Multi-Model NLP Benchmark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E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7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14 · 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Contributions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1277295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1550" dirty="0">
                <a:solidFill>
                  <a:srgbClr val="F4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and released a stratified ~29.8K-post Bangla bullying corpus with rich EDA (class balance, length, lexical, word-cloud analysis).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1550" dirty="0">
                <a:solidFill>
                  <a:srgbClr val="F4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 17 models across classical ML, static embeddings, deep neural nets, and transformers under one evaluation protocol.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1550" dirty="0">
                <a:solidFill>
                  <a:srgbClr val="F4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and ensembling (soft-vote, stacking, weighted late fusion) delivered the best result: F1-macro = 0.895, ROC-AUC = 0.964.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1550" dirty="0">
                <a:solidFill>
                  <a:srgbClr val="F4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with 5-fold CV, bootstrap 95% confidence intervals, and McNemar significance testing — top-5 models are statistically tied.</a:t>
            </a:r>
            <a:endParaRPr lang="en-US" sz="1550" dirty="0"/>
          </a:p>
          <a:p>
            <a:pPr marL="228600" indent="-228600">
              <a:lnSpc>
                <a:spcPct val="108000"/>
              </a:lnSpc>
              <a:spcAft>
                <a:spcPts val="1400"/>
              </a:spcAft>
              <a:buSzPct val="100000"/>
              <a:buChar char="●"/>
            </a:pPr>
            <a:r>
              <a:rPr lang="en-US" sz="1550" dirty="0">
                <a:solidFill>
                  <a:srgbClr val="F4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the model transparent and safe to deploy via SHAP / LIME / attention explanations and calibrated, abstention-ready uncertainty.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 Hate Speech Detection — Multi-Model NLP Benchmark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33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E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371600"/>
            <a:ext cx="4206240" cy="4206240"/>
          </a:xfrm>
          <a:prstGeom prst="ellipse">
            <a:avLst/>
          </a:prstGeom>
          <a:solidFill>
            <a:srgbClr val="123350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572000"/>
            <a:ext cx="3657600" cy="3657600"/>
          </a:xfrm>
          <a:prstGeom prst="ellipse">
            <a:avLst/>
          </a:prstGeom>
          <a:solidFill>
            <a:srgbClr val="0F294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92608"/>
            <a:ext cx="11277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14 · WRAP-UP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11277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Work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77295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F4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— single corpus, single variety: generalisation to Banglish or dialects is untested beyond the BD-SHS replication.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F4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— illustrative explainability: LIME/SHAP/attention are case studies, not a human-validated faithfulness evaluation.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F4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— multi-label corpora (HateCorpBN-XL), code-mixed Banglish evaluation, and LoRA/QLoRA fine-tuning with a systematic zero/few-shot LLM baseline.</a:t>
            </a:r>
            <a:endParaRPr lang="en-US" sz="14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F4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— a human-rated faithfulness study for explainability, and human-in-the-loop deployment routing only uncertain posts for manual review.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57200" y="4617720"/>
            <a:ext cx="112772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4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5532120"/>
            <a:ext cx="112772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 Hate Speech Detection — Multi-Model NLP Benchmark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362895" y="64739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33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</TotalTime>
  <Words>2763</Words>
  <Application>Microsoft Office PowerPoint</Application>
  <PresentationFormat>Widescreen</PresentationFormat>
  <Paragraphs>488</Paragraphs>
  <Slides>35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Md.Rahmatullah Mia</cp:lastModifiedBy>
  <cp:revision>8</cp:revision>
  <dcterms:created xsi:type="dcterms:W3CDTF">2026-09-04T05:27:22Z</dcterms:created>
  <dcterms:modified xsi:type="dcterms:W3CDTF">2026-09-06T15:46:58Z</dcterms:modified>
</cp:coreProperties>
</file>